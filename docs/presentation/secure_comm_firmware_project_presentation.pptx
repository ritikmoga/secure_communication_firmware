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85800" y="1060704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7FAFF"/>
                </a:solidFill>
              </a:rPr>
              <a:t>Secure Communication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7FAFF"/>
                </a:solidFill>
              </a:rPr>
              <a:t>Firmware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49808" y="2532888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B8C6D9"/>
                </a:solidFill>
              </a:rPr>
              <a:t>ESP32-S3 secure messaging project with mutual TLS, end-to-end encryption, certificates, relay server, OTA updates and backend monitoring.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8952" y="3493008"/>
            <a:ext cx="1325880" cy="310896"/>
          </a:xfrm>
          <a:prstGeom prst="rect">
            <a:avLst/>
          </a:prstGeom>
          <a:solidFill>
            <a:srgbClr val="2F80FF">
              <a:alpha val="92000"/>
            </a:srgbClr>
          </a:solidFill>
          <a:ln>
            <a:solidFill>
              <a:srgbClr val="2F80FF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TLS 1.3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249424" y="3493008"/>
            <a:ext cx="1325880" cy="310896"/>
          </a:xfrm>
          <a:prstGeom prst="rect">
            <a:avLst/>
          </a:prstGeom>
          <a:solidFill>
            <a:srgbClr val="38E77B">
              <a:alpha val="92000"/>
            </a:srgbClr>
          </a:solidFill>
          <a:ln>
            <a:solidFill>
              <a:srgbClr val="38E77B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AES-256-GCM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22192" y="3493008"/>
            <a:ext cx="1325880" cy="310896"/>
          </a:xfrm>
          <a:prstGeom prst="rect">
            <a:avLst/>
          </a:prstGeom>
          <a:solidFill>
            <a:srgbClr val="B78CFF">
              <a:alpha val="92000"/>
            </a:srgbClr>
          </a:solidFill>
          <a:ln>
            <a:solidFill>
              <a:srgbClr val="B78CFF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Signed OTA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67728" y="3858768"/>
            <a:ext cx="1024128" cy="0"/>
          </a:xfrm>
          <a:prstGeom prst="line">
            <a:avLst/>
          </a:prstGeom>
          <a:noFill/>
          <a:ln w="25400">
            <a:solidFill>
              <a:srgbClr val="3AF2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887968" y="3858768"/>
            <a:ext cx="1024128" cy="0"/>
          </a:xfrm>
          <a:prstGeom prst="line">
            <a:avLst/>
          </a:prstGeom>
          <a:noFill/>
          <a:ln w="25400">
            <a:solidFill>
              <a:srgbClr val="3AF2F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263640" y="3364992"/>
            <a:ext cx="868680" cy="987552"/>
          </a:xfrm>
          <a:prstGeom prst="rect">
            <a:avLst/>
          </a:prstGeom>
          <a:solidFill>
            <a:srgbClr val="0F2032">
              <a:alpha val="95000"/>
            </a:srgbClr>
          </a:solidFill>
          <a:ln w="13970">
            <a:solidFill>
              <a:srgbClr val="2F8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Alice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ESP32-S3 device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28432" y="3364992"/>
            <a:ext cx="868680" cy="987552"/>
          </a:xfrm>
          <a:prstGeom prst="rect">
            <a:avLst/>
          </a:prstGeom>
          <a:solidFill>
            <a:srgbClr val="0F2032">
              <a:alpha val="95000"/>
            </a:srgbClr>
          </a:solidFill>
          <a:ln w="13970">
            <a:solidFill>
              <a:srgbClr val="F6C84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Relay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mTLS forwarding only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966960" y="3364992"/>
            <a:ext cx="868680" cy="987552"/>
          </a:xfrm>
          <a:prstGeom prst="rect">
            <a:avLst/>
          </a:prstGeom>
          <a:solidFill>
            <a:srgbClr val="0F2032">
              <a:alpha val="95000"/>
            </a:srgbClr>
          </a:solidFill>
          <a:ln w="13970">
            <a:solidFill>
              <a:srgbClr val="38E77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Bob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ESP32-S3 device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0" y="4709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6D9"/>
                </a:solidFill>
              </a:rPr>
              <a:t>The relay can forward messages but cannot read the end-to-end encrypted content.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AFF"/>
                </a:solidFill>
              </a:rPr>
              <a:t>Project purpose in simple words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A secure firmware system for private communication between two or more trusted devices.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8872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B6E"/>
                </a:solidFill>
              </a:rPr>
              <a:t>Problem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2519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B8C6D9"/>
                </a:solidFill>
              </a:rPr>
              <a:t>Normal device messages can be intercepted on Wi‑Fi or local networks.</a:t>
            </a:r>
            <a:endParaRPr lang="en-US" sz="1600" dirty="0"/>
          </a:p>
          <a:p>
            <a:r>
              <a:rPr lang="en-US" sz="1600" dirty="0">
                <a:solidFill>
                  <a:srgbClr val="B8C6D9"/>
                </a:solidFill>
              </a:rPr>
              <a:t>A middle server can become a privacy risk if it can read messages.</a:t>
            </a:r>
            <a:endParaRPr lang="en-US" sz="1600" dirty="0"/>
          </a:p>
          <a:p>
            <a:r>
              <a:rPr lang="en-US" sz="1600" dirty="0">
                <a:solidFill>
                  <a:srgbClr val="B8C6D9"/>
                </a:solidFill>
              </a:rPr>
              <a:t>Firmware updates can be dangerous if unsigned or unverified.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0372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E77B"/>
                </a:solidFill>
              </a:rPr>
              <a:t>Solution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31152" y="2331720"/>
            <a:ext cx="43891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B8C6D9"/>
                </a:solidFill>
              </a:rPr>
              <a:t>Every device proves its identity with certificates and keys.</a:t>
            </a:r>
            <a:endParaRPr lang="en-US" sz="1600" dirty="0"/>
          </a:p>
          <a:p>
            <a:r>
              <a:rPr lang="en-US" sz="1600" dirty="0">
                <a:solidFill>
                  <a:srgbClr val="B8C6D9"/>
                </a:solidFill>
              </a:rPr>
              <a:t>Messages are encrypted end-to-end before reaching the relay.</a:t>
            </a:r>
            <a:endParaRPr lang="en-US" sz="1600" dirty="0"/>
          </a:p>
          <a:p>
            <a:r>
              <a:rPr lang="en-US" sz="1600" dirty="0">
                <a:solidFill>
                  <a:srgbClr val="B8C6D9"/>
                </a:solidFill>
              </a:rPr>
              <a:t>Backend logs show delivery without exposing plaintext content.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2523744"/>
            <a:ext cx="1508760" cy="1170432"/>
          </a:xfrm>
          <a:prstGeom prst="rect">
            <a:avLst/>
          </a:prstGeom>
          <a:solidFill>
            <a:srgbClr val="0F2032"/>
          </a:solidFill>
          <a:ln w="15240">
            <a:solidFill>
              <a:srgbClr val="3AF2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7FAFF"/>
                </a:solidFill>
              </a:rPr>
              <a:t>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553712" y="3273552"/>
            <a:ext cx="621792" cy="0"/>
          </a:xfrm>
          <a:prstGeom prst="line">
            <a:avLst/>
          </a:prstGeom>
          <a:noFill/>
          <a:ln w="17780">
            <a:solidFill>
              <a:srgbClr val="24405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59168" y="3273552"/>
            <a:ext cx="621792" cy="0"/>
          </a:xfrm>
          <a:prstGeom prst="line">
            <a:avLst/>
          </a:prstGeom>
          <a:noFill/>
          <a:ln w="17780">
            <a:solidFill>
              <a:srgbClr val="24405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AFF"/>
                </a:solidFill>
              </a:rPr>
              <a:t>How the system is connected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Two security layers: mutual TLS transport plus end-to-end message encryption.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8872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42032" y="3218688"/>
            <a:ext cx="1956816" cy="0"/>
          </a:xfrm>
          <a:prstGeom prst="line">
            <a:avLst/>
          </a:prstGeom>
          <a:noFill/>
          <a:ln w="27940">
            <a:solidFill>
              <a:srgbClr val="2F80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54112" y="3218688"/>
            <a:ext cx="1956816" cy="0"/>
          </a:xfrm>
          <a:prstGeom prst="line">
            <a:avLst/>
          </a:prstGeom>
          <a:noFill/>
          <a:ln w="27940">
            <a:solidFill>
              <a:srgbClr val="2F80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42032" y="4069080"/>
            <a:ext cx="7168896" cy="0"/>
          </a:xfrm>
          <a:prstGeom prst="line">
            <a:avLst/>
          </a:prstGeom>
          <a:noFill/>
          <a:ln w="31750">
            <a:solidFill>
              <a:srgbClr val="38E77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60120" y="2542032"/>
            <a:ext cx="1508760" cy="1143000"/>
          </a:xfrm>
          <a:prstGeom prst="rect">
            <a:avLst/>
          </a:prstGeom>
          <a:solidFill>
            <a:srgbClr val="0F2032">
              <a:alpha val="95000"/>
            </a:srgbClr>
          </a:solidFill>
          <a:ln w="13970">
            <a:solidFill>
              <a:srgbClr val="2F8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Alice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ESP32-S3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private key + cert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542032"/>
            <a:ext cx="1828800" cy="1143000"/>
          </a:xfrm>
          <a:prstGeom prst="rect">
            <a:avLst/>
          </a:prstGeom>
          <a:solidFill>
            <a:srgbClr val="0F2032">
              <a:alpha val="95000"/>
            </a:srgbClr>
          </a:solidFill>
          <a:ln w="13970">
            <a:solidFill>
              <a:srgbClr val="F6C84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Secure Relay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Forwards ciphertext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no plaintext access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784080" y="2542032"/>
            <a:ext cx="1508760" cy="1143000"/>
          </a:xfrm>
          <a:prstGeom prst="rect">
            <a:avLst/>
          </a:prstGeom>
          <a:solidFill>
            <a:srgbClr val="0F2032">
              <a:alpha val="95000"/>
            </a:srgbClr>
          </a:solidFill>
          <a:ln w="13970">
            <a:solidFill>
              <a:srgbClr val="38E77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Bob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ESP32-S3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private key + cert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8036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0FF"/>
                </a:solidFill>
              </a:rPr>
              <a:t>TLS 1.3 mTLS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0FF"/>
                </a:solidFill>
              </a:rPr>
              <a:t>TLS 1.3 mTLS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42519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E77B"/>
                </a:solidFill>
              </a:rPr>
              <a:t>End-to-end AES-256-GCM encrypted message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5230368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6D9"/>
                </a:solidFill>
              </a:rPr>
              <a:t>Result: the network sees protected TLS traffic, while the relay only sees encrypted payloads.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AFF"/>
                </a:solidFill>
              </a:rPr>
              <a:t>Dashboard overview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The main screen summarizes project health, topology, message activity and security posture.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8872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04</a:t>
            </a:r>
            <a:endParaRPr lang="en-US" sz="800" dirty="0"/>
          </a:p>
        </p:txBody>
      </p:sp>
      <p:pic>
        <p:nvPicPr>
          <p:cNvPr id="7" name="Image 0" descr="/mnt/data/secure_comm_clean_screenshots/01_dashboar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911" y="1755648"/>
            <a:ext cx="5818082" cy="4343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66760" y="18562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What this screen proves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385048" y="2331720"/>
            <a:ext cx="31546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B8C6D9"/>
                </a:solidFill>
              </a:rPr>
              <a:t>Shows Alice, relay and Bob in one secure topology.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Tracks connected devices, sent/received messages and security score.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Explains the project quickly during presentation or demo.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366760" y="4617720"/>
            <a:ext cx="2331720" cy="0"/>
          </a:xfrm>
          <a:prstGeom prst="line">
            <a:avLst/>
          </a:prstGeom>
          <a:noFill/>
          <a:ln w="19050">
            <a:solidFill>
              <a:srgbClr val="3AF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4901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F2FF"/>
                </a:solidFill>
              </a:rPr>
              <a:t>Demo point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66760" y="5285232"/>
            <a:ext cx="32461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6D9"/>
                </a:solidFill>
              </a:rPr>
              <a:t>Use this slide while explaining the live flow: device connects → identity verified → encrypted message delivered → logs confirm the result.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AFF"/>
                </a:solidFill>
              </a:rPr>
              <a:t>Real-time secure chat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This screen demonstrates how Alice and Bob communicate after the secure session is ready.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8872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05</a:t>
            </a:r>
            <a:endParaRPr lang="en-US" sz="800" dirty="0"/>
          </a:p>
        </p:txBody>
      </p:sp>
      <p:pic>
        <p:nvPicPr>
          <p:cNvPr id="7" name="Image 0" descr="/mnt/data/secure_comm_clean_screenshots/02_secure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336" y="1755648"/>
            <a:ext cx="6175232" cy="4343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66760" y="18562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What this screen proves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385048" y="2331720"/>
            <a:ext cx="31546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B8C6D9"/>
                </a:solidFill>
              </a:rPr>
              <a:t>Messages appear readable only at the endpoints.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The green notice explains that the relay cannot read content.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Useful for showing the practical outcome of the firmware.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366760" y="4617720"/>
            <a:ext cx="2331720" cy="0"/>
          </a:xfrm>
          <a:prstGeom prst="line">
            <a:avLst/>
          </a:prstGeom>
          <a:noFill/>
          <a:ln w="19050">
            <a:solidFill>
              <a:srgbClr val="38E7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4901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E77B"/>
                </a:solidFill>
              </a:rPr>
              <a:t>Demo point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66760" y="5285232"/>
            <a:ext cx="32461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6D9"/>
                </a:solidFill>
              </a:rPr>
              <a:t>Use this slide while explaining the live flow: device connects → identity verified → encrypted message delivered → logs confirm the result.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AFF"/>
                </a:solidFill>
              </a:rPr>
              <a:t>Connected devices view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Device monitoring screen for trusted participants in the secure network.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8872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06</a:t>
            </a:r>
            <a:endParaRPr lang="en-US" sz="800" dirty="0"/>
          </a:p>
        </p:txBody>
      </p:sp>
      <p:pic>
        <p:nvPicPr>
          <p:cNvPr id="7" name="Image 0" descr="/mnt/data/secure_comm_clean_screenshots/03_connected_dev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683" y="1755648"/>
            <a:ext cx="5518537" cy="4343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66760" y="18562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What this screen proves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385048" y="2331720"/>
            <a:ext cx="31546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B8C6D9"/>
                </a:solidFill>
              </a:rPr>
              <a:t>Lists device IDs, names, local IP addresses and live status.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Helps verify that Alice and Bob are online.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Can be extended for Charlie, Diana and more peers.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366760" y="4617720"/>
            <a:ext cx="2331720" cy="0"/>
          </a:xfrm>
          <a:prstGeom prst="line">
            <a:avLst/>
          </a:prstGeom>
          <a:noFill/>
          <a:ln w="19050">
            <a:solidFill>
              <a:srgbClr val="2F80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4901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FF"/>
                </a:solidFill>
              </a:rPr>
              <a:t>Demo point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66760" y="5285232"/>
            <a:ext cx="32461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6D9"/>
                </a:solidFill>
              </a:rPr>
              <a:t>Use this slide while explaining the live flow: device connects → identity verified → encrypted message delivered → logs confirm the result.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AFF"/>
                </a:solidFill>
              </a:rPr>
              <a:t>System logs view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A web-friendly audit trail for authentication, delivery and backend events.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8872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07</a:t>
            </a:r>
            <a:endParaRPr lang="en-US" sz="800" dirty="0"/>
          </a:p>
        </p:txBody>
      </p:sp>
      <p:pic>
        <p:nvPicPr>
          <p:cNvPr id="7" name="Image 0" descr="/mnt/data/secure_comm_clean_screenshots/04_system_l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962786"/>
            <a:ext cx="7315200" cy="3929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66760" y="18562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What this screen proves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385048" y="2331720"/>
            <a:ext cx="31546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B8C6D9"/>
                </a:solidFill>
              </a:rPr>
              <a:t>Logs successful connections and authenticated devices.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Records message forwarding without exposing plaintext.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Useful for debugging and project demonstration.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366760" y="4617720"/>
            <a:ext cx="2331720" cy="0"/>
          </a:xfrm>
          <a:prstGeom prst="line">
            <a:avLst/>
          </a:prstGeom>
          <a:noFill/>
          <a:ln w="19050">
            <a:solidFill>
              <a:srgbClr val="B78C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4901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8CFF"/>
                </a:solidFill>
              </a:rPr>
              <a:t>Demo point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66760" y="5285232"/>
            <a:ext cx="32461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6D9"/>
                </a:solidFill>
              </a:rPr>
              <a:t>Use this slide while explaining the live flow: device connects → identity verified → encrypted message delivered → logs confirm the result.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AFF"/>
                </a:solidFill>
              </a:rPr>
              <a:t>Backend result: relay server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The relay terminal proves that secure backend forwarding is happening.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8872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08</a:t>
            </a:r>
            <a:endParaRPr lang="en-US" sz="800" dirty="0"/>
          </a:p>
        </p:txBody>
      </p:sp>
      <p:pic>
        <p:nvPicPr>
          <p:cNvPr id="7" name="Image 0" descr="/mnt/data/secure_comm_clean_screenshots/05_relay_server_bac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216759"/>
            <a:ext cx="7315200" cy="3421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66760" y="18562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What this screen proves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385048" y="2331720"/>
            <a:ext cx="31546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B8C6D9"/>
                </a:solidFill>
              </a:rPr>
              <a:t>Shows allowed devices: Alice and Bob.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Confirms successful client authentication.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Forwards encrypted packets between endpoints.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366760" y="4617720"/>
            <a:ext cx="2331720" cy="0"/>
          </a:xfrm>
          <a:prstGeom prst="line">
            <a:avLst/>
          </a:prstGeom>
          <a:noFill/>
          <a:ln w="19050">
            <a:solidFill>
              <a:srgbClr val="F6C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4901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84C"/>
                </a:solidFill>
              </a:rPr>
              <a:t>Demo point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66760" y="5285232"/>
            <a:ext cx="32461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6D9"/>
                </a:solidFill>
              </a:rPr>
              <a:t>Use this slide while explaining the live flow: device connects → identity verified → encrypted message delivered → logs confirm the result.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AFF"/>
                </a:solidFill>
              </a:rPr>
              <a:t>Backend result: OTA file server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The OTA backend provides firmware update files over HTTPS.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8872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09</a:t>
            </a:r>
            <a:endParaRPr lang="en-US" sz="800" dirty="0"/>
          </a:p>
        </p:txBody>
      </p:sp>
      <p:pic>
        <p:nvPicPr>
          <p:cNvPr id="7" name="Image 0" descr="/mnt/data/secure_comm_clean_screenshots/06_ota_server_bac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180223"/>
            <a:ext cx="7315200" cy="34942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66760" y="18562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What this screen proves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385048" y="2331720"/>
            <a:ext cx="31546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B8C6D9"/>
                </a:solidFill>
              </a:rPr>
              <a:t>Hosts firmware binaries for update testing.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Logs file downloads by connected devices.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Supports a safer update workflow for firmware.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366760" y="4617720"/>
            <a:ext cx="2331720" cy="0"/>
          </a:xfrm>
          <a:prstGeom prst="line">
            <a:avLst/>
          </a:prstGeom>
          <a:noFill/>
          <a:ln w="19050">
            <a:solidFill>
              <a:srgbClr val="3AF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4901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F2FF"/>
                </a:solidFill>
              </a:rPr>
              <a:t>Demo point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66760" y="5285232"/>
            <a:ext cx="32461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6D9"/>
                </a:solidFill>
              </a:rPr>
              <a:t>Use this slide while explaining the live flow: device connects → identity verified → encrypted message delivered → logs confirm the result.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AFF"/>
                </a:solidFill>
              </a:rPr>
              <a:t>Certificate management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Certificate visibility helps explain identity, trust and expiry.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8872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10</a:t>
            </a:r>
            <a:endParaRPr lang="en-US" sz="800" dirty="0"/>
          </a:p>
        </p:txBody>
      </p:sp>
      <p:pic>
        <p:nvPicPr>
          <p:cNvPr id="7" name="Image 0" descr="/mnt/data/secure_comm_clean_screenshots/07_certificate_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345341"/>
            <a:ext cx="7315200" cy="31640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66760" y="18562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What this screen proves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385048" y="2331720"/>
            <a:ext cx="31546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B8C6D9"/>
                </a:solidFill>
              </a:rPr>
              <a:t>Shows CA, relay and device certificates.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Marks valid certificates for Alice and Bob.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Connects the UI story to real cryptographic identity.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366760" y="4617720"/>
            <a:ext cx="2331720" cy="0"/>
          </a:xfrm>
          <a:prstGeom prst="line">
            <a:avLst/>
          </a:prstGeom>
          <a:noFill/>
          <a:ln w="19050">
            <a:solidFill>
              <a:srgbClr val="38E7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4901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E77B"/>
                </a:solidFill>
              </a:rPr>
              <a:t>Demo point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66760" y="5285232"/>
            <a:ext cx="32461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6D9"/>
                </a:solidFill>
              </a:rPr>
              <a:t>Use this slide while explaining the live flow: device connects → identity verified → encrypted message delivered → logs confirm the result.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AFF"/>
                </a:solidFill>
              </a:rPr>
              <a:t>Device CLI interaction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The device command line proves the firmware can send and receive messages live.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8872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11</a:t>
            </a:r>
            <a:endParaRPr lang="en-US" sz="800" dirty="0"/>
          </a:p>
        </p:txBody>
      </p:sp>
      <p:pic>
        <p:nvPicPr>
          <p:cNvPr id="7" name="Image 0" descr="/mnt/data/secure_comm_clean_screenshots/08_device_cli_inter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029681"/>
            <a:ext cx="7315200" cy="17953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66760" y="18562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What this screen proves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385048" y="2331720"/>
            <a:ext cx="31546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B8C6D9"/>
                </a:solidFill>
              </a:rPr>
              <a:t>Alice checks peers and sends encrypted text to Bob.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Bob receives the message and replies securely.</a:t>
            </a:r>
            <a:endParaRPr lang="en-US" sz="1500" dirty="0"/>
          </a:p>
          <a:p>
            <a:r>
              <a:rPr lang="en-US" sz="1500" dirty="0">
                <a:solidFill>
                  <a:srgbClr val="B8C6D9"/>
                </a:solidFill>
              </a:rPr>
              <a:t>This is the strongest live demo slide for communication.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366760" y="4617720"/>
            <a:ext cx="2331720" cy="0"/>
          </a:xfrm>
          <a:prstGeom prst="line">
            <a:avLst/>
          </a:prstGeom>
          <a:noFill/>
          <a:ln w="19050">
            <a:solidFill>
              <a:srgbClr val="2F80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4901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FF"/>
                </a:solidFill>
              </a:rPr>
              <a:t>Demo point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66760" y="5285232"/>
            <a:ext cx="32461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6D9"/>
                </a:solidFill>
              </a:rPr>
              <a:t>Use this slide while explaining the live flow: device connects → identity verified → encrypted message delivered → logs confirm the result.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AFF"/>
                </a:solidFill>
              </a:rPr>
              <a:t>Alice-to-Bob message flow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Simple step-by-step journey from plaintext at Alice to plaintext at Bob.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8872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48840" y="3547872"/>
            <a:ext cx="713232" cy="0"/>
          </a:xfrm>
          <a:prstGeom prst="line">
            <a:avLst/>
          </a:prstGeom>
          <a:noFill/>
          <a:ln w="22860">
            <a:solidFill>
              <a:srgbClr val="24405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89120" y="3547872"/>
            <a:ext cx="713232" cy="0"/>
          </a:xfrm>
          <a:prstGeom prst="line">
            <a:avLst/>
          </a:prstGeom>
          <a:noFill/>
          <a:ln w="22860">
            <a:solidFill>
              <a:srgbClr val="24405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629400" y="3547872"/>
            <a:ext cx="713232" cy="0"/>
          </a:xfrm>
          <a:prstGeom prst="line">
            <a:avLst/>
          </a:prstGeom>
          <a:noFill/>
          <a:ln w="22860">
            <a:solidFill>
              <a:srgbClr val="24405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869680" y="3547872"/>
            <a:ext cx="713232" cy="0"/>
          </a:xfrm>
          <a:prstGeom prst="line">
            <a:avLst/>
          </a:prstGeom>
          <a:noFill/>
          <a:ln w="22860">
            <a:solidFill>
              <a:srgbClr val="24405E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13232" y="2788920"/>
            <a:ext cx="1417320" cy="1417320"/>
          </a:xfrm>
          <a:prstGeom prst="rect">
            <a:avLst/>
          </a:prstGeom>
          <a:solidFill>
            <a:srgbClr val="0F2032"/>
          </a:solidFill>
          <a:ln w="15240">
            <a:solidFill>
              <a:srgbClr val="3AF2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AFF"/>
                </a:solidFill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F"/>
                </a:solidFill>
              </a:rPr>
              <a:t>Alice writes message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0624" y="4901184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B8C6D9"/>
                </a:solidFill>
              </a:rPr>
              <a:t>Plaintext exists only on Alice.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53512" y="2788920"/>
            <a:ext cx="1417320" cy="1417320"/>
          </a:xfrm>
          <a:prstGeom prst="rect">
            <a:avLst/>
          </a:prstGeom>
          <a:solidFill>
            <a:srgbClr val="0F2032"/>
          </a:solidFill>
          <a:ln w="15240">
            <a:solidFill>
              <a:srgbClr val="3AF2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A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88920" y="4480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F"/>
                </a:solidFill>
              </a:rPr>
              <a:t>Encrypt + authenticate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60904" y="4901184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B8C6D9"/>
                </a:solidFill>
              </a:rPr>
              <a:t>AES-256-GCM protects the message.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93792" y="2788920"/>
            <a:ext cx="1417320" cy="1417320"/>
          </a:xfrm>
          <a:prstGeom prst="rect">
            <a:avLst/>
          </a:prstGeom>
          <a:solidFill>
            <a:srgbClr val="0F2032"/>
          </a:solidFill>
          <a:ln w="15240">
            <a:solidFill>
              <a:srgbClr val="F6C8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A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0" y="4480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F"/>
                </a:solidFill>
              </a:rPr>
              <a:t>Relay forwards packet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01184" y="4901184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B8C6D9"/>
                </a:solidFill>
              </a:rPr>
              <a:t>Relay sees ciphertext only.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34072" y="2788920"/>
            <a:ext cx="1417320" cy="1417320"/>
          </a:xfrm>
          <a:prstGeom prst="rect">
            <a:avLst/>
          </a:prstGeom>
          <a:solidFill>
            <a:srgbClr val="0F2032"/>
          </a:solidFill>
          <a:ln w="15240">
            <a:solidFill>
              <a:srgbClr val="3AF2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A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69480" y="4480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F"/>
                </a:solidFill>
              </a:rPr>
              <a:t>Bob verifies counter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41464" y="4901184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B8C6D9"/>
                </a:solidFill>
              </a:rPr>
              <a:t>Replay attacks are rejected.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74352" y="2788920"/>
            <a:ext cx="1417320" cy="1417320"/>
          </a:xfrm>
          <a:prstGeom prst="rect">
            <a:avLst/>
          </a:prstGeom>
          <a:solidFill>
            <a:srgbClr val="0F2032"/>
          </a:solidFill>
          <a:ln w="15240">
            <a:solidFill>
              <a:srgbClr val="3AF2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AFF"/>
                </a:solidFill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509760" y="4480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AFF"/>
                </a:solidFill>
              </a:rPr>
              <a:t>Bob decrypts message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381744" y="4901184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B8C6D9"/>
                </a:solidFill>
              </a:rPr>
              <a:t>Plaintext appears only on Bob.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AFF"/>
                </a:solidFill>
              </a:rPr>
              <a:t>Security stack used in the project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Each layer protects a different part of the communication system.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8872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05840" y="2286000"/>
            <a:ext cx="10012680" cy="0"/>
          </a:xfrm>
          <a:prstGeom prst="line">
            <a:avLst/>
          </a:prstGeom>
          <a:noFill/>
          <a:ln w="10160">
            <a:solidFill>
              <a:srgbClr val="132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7556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0FF"/>
                </a:solidFill>
              </a:rPr>
              <a:t>Device identity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3320" y="175564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6D9"/>
                </a:solidFill>
              </a:rPr>
              <a:t>Unique certificates and identity keys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2944368"/>
            <a:ext cx="10012680" cy="0"/>
          </a:xfrm>
          <a:prstGeom prst="line">
            <a:avLst/>
          </a:prstGeom>
          <a:noFill/>
          <a:ln w="10160">
            <a:solidFill>
              <a:srgbClr val="132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41401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F2FF"/>
                </a:solidFill>
              </a:rPr>
              <a:t>Transport security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2414016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6D9"/>
                </a:solidFill>
              </a:rPr>
              <a:t>TLS 1.3 mutual authentication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05840" y="3602736"/>
            <a:ext cx="10012680" cy="0"/>
          </a:xfrm>
          <a:prstGeom prst="line">
            <a:avLst/>
          </a:prstGeom>
          <a:noFill/>
          <a:ln w="10160">
            <a:solidFill>
              <a:srgbClr val="1326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07238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E77B"/>
                </a:solidFill>
              </a:rPr>
              <a:t>Message security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3072384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6D9"/>
                </a:solidFill>
              </a:rPr>
              <a:t>End-to-end AES-256-GCM encryption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05840" y="4261104"/>
            <a:ext cx="10012680" cy="0"/>
          </a:xfrm>
          <a:prstGeom prst="line">
            <a:avLst/>
          </a:prstGeom>
          <a:noFill/>
          <a:ln w="10160">
            <a:solidFill>
              <a:srgbClr val="1326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730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C84C"/>
                </a:solidFill>
              </a:rPr>
              <a:t>Replay protection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3730752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6D9"/>
                </a:solidFill>
              </a:rPr>
              <a:t>Session IDs and monotonic message counters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05840" y="4919472"/>
            <a:ext cx="10012680" cy="0"/>
          </a:xfrm>
          <a:prstGeom prst="line">
            <a:avLst/>
          </a:prstGeom>
          <a:noFill/>
          <a:ln w="10160">
            <a:solidFill>
              <a:srgbClr val="1326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389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8CFF"/>
                </a:solidFill>
              </a:rPr>
              <a:t>Firmware updates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03320" y="4389120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6D9"/>
                </a:solidFill>
              </a:rPr>
              <a:t>HTTPS OTA and rollback confirmation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05840" y="5577840"/>
            <a:ext cx="10012680" cy="0"/>
          </a:xfrm>
          <a:prstGeom prst="line">
            <a:avLst/>
          </a:prstGeom>
          <a:noFill/>
          <a:ln w="10160">
            <a:solidFill>
              <a:srgbClr val="1326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0474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B6E"/>
                </a:solidFill>
              </a:rPr>
              <a:t>Production hardening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03320" y="5047488"/>
            <a:ext cx="6903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6D9"/>
                </a:solidFill>
              </a:rPr>
              <a:t>Secure Boot v2 and flash encryption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51560" y="58064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7FAFF"/>
                </a:solidFill>
              </a:rPr>
              <a:t>Key idea: security is not one feature. It is a chain of identity, encryption, verification, update safety and hardware protection.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AFF"/>
                </a:solidFill>
              </a:rPr>
              <a:t>How to demonstrate the project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Use this short script when explaining your project to someone.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8872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60120" y="1719072"/>
            <a:ext cx="365760" cy="365760"/>
          </a:xfrm>
          <a:prstGeom prst="rect">
            <a:avLst/>
          </a:prstGeom>
          <a:solidFill>
            <a:srgbClr val="3AF2FF"/>
          </a:solidFill>
          <a:ln>
            <a:solidFill>
              <a:srgbClr val="3AF2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A12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Start relay server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Backend accepts only allowed devices.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2560320"/>
            <a:ext cx="365760" cy="365760"/>
          </a:xfrm>
          <a:prstGeom prst="rect">
            <a:avLst/>
          </a:prstGeom>
          <a:solidFill>
            <a:srgbClr val="3AF2FF"/>
          </a:solidFill>
          <a:ln>
            <a:solidFill>
              <a:srgbClr val="3AF2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A12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Flash Alice and Bob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92040" y="25786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Each board gets its own certificate and peer trust list.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0120" y="3401568"/>
            <a:ext cx="365760" cy="365760"/>
          </a:xfrm>
          <a:prstGeom prst="rect">
            <a:avLst/>
          </a:prstGeom>
          <a:solidFill>
            <a:srgbClr val="3AF2FF"/>
          </a:solidFill>
          <a:ln>
            <a:solidFill>
              <a:srgbClr val="3AF2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A12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401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Watch connection logs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92040" y="341985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Wi‑Fi, time sync, mTLS and registration succeed.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4242816"/>
            <a:ext cx="365760" cy="365760"/>
          </a:xfrm>
          <a:prstGeom prst="rect">
            <a:avLst/>
          </a:prstGeom>
          <a:solidFill>
            <a:srgbClr val="3AF2FF"/>
          </a:solidFill>
          <a:ln>
            <a:solidFill>
              <a:srgbClr val="3AF2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A12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2428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Send a message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92040" y="426110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Alice sends text that the relay cannot read.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60120" y="5084064"/>
            <a:ext cx="365760" cy="365760"/>
          </a:xfrm>
          <a:prstGeom prst="rect">
            <a:avLst/>
          </a:prstGeom>
          <a:solidFill>
            <a:srgbClr val="3AF2FF"/>
          </a:solidFill>
          <a:ln>
            <a:solidFill>
              <a:srgbClr val="3AF2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A12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5084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Show backend result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92040" y="51023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Logs prove forwarding while protecting privacy.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60120" y="608076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E77B"/>
                </a:solidFill>
              </a:rPr>
              <a:t>Final message for audience: “This project protects communication before, during and after delivery.”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FAFF"/>
                </a:solidFill>
              </a:rPr>
              <a:t>Future upgrades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10789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Ideas to turn this firmware project into a complete production-grade platform.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8872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5166360" cy="3657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00" dirty="0">
                <a:solidFill>
                  <a:srgbClr val="B8C6D9"/>
                </a:solidFill>
              </a:rPr>
              <a:t>Add a real browser dashboard instead of concept UI screenshots.</a:t>
            </a:r>
            <a:endParaRPr lang="en-US" sz="1700" dirty="0"/>
          </a:p>
          <a:p>
            <a:r>
              <a:rPr lang="en-US" sz="1700" dirty="0">
                <a:solidFill>
                  <a:srgbClr val="B8C6D9"/>
                </a:solidFill>
              </a:rPr>
              <a:t>Add role-based admin login for monitoring and certificate management.</a:t>
            </a:r>
            <a:endParaRPr lang="en-US" sz="1700" dirty="0"/>
          </a:p>
          <a:p>
            <a:r>
              <a:rPr lang="en-US" sz="1700" dirty="0">
                <a:solidFill>
                  <a:srgbClr val="B8C6D9"/>
                </a:solidFill>
              </a:rPr>
              <a:t>Add group chat with per-group keys for more than two devices.</a:t>
            </a:r>
            <a:endParaRPr lang="en-US" sz="1700" dirty="0"/>
          </a:p>
          <a:p>
            <a:r>
              <a:rPr lang="en-US" sz="1700" dirty="0">
                <a:solidFill>
                  <a:srgbClr val="B8C6D9"/>
                </a:solidFill>
              </a:rPr>
              <a:t>Store keys in a secure element or hardened NVS configuration.</a:t>
            </a:r>
            <a:endParaRPr lang="en-US" sz="1700" dirty="0"/>
          </a:p>
          <a:p>
            <a:r>
              <a:rPr lang="en-US" sz="1700" dirty="0">
                <a:solidFill>
                  <a:srgbClr val="B8C6D9"/>
                </a:solidFill>
              </a:rPr>
              <a:t>Add mobile app pairing with QR-based provisioning.</a:t>
            </a:r>
            <a:endParaRPr lang="en-US" sz="1700" dirty="0"/>
          </a:p>
          <a:p>
            <a:r>
              <a:rPr lang="en-US" sz="1700" dirty="0">
                <a:solidFill>
                  <a:srgbClr val="B8C6D9"/>
                </a:solidFill>
              </a:rPr>
              <a:t>Add alerting for failed authentication, replay attempts and expired certificates.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040880" y="2148840"/>
            <a:ext cx="1005840" cy="777240"/>
          </a:xfrm>
          <a:prstGeom prst="chevron">
            <a:avLst/>
          </a:prstGeom>
          <a:solidFill>
            <a:srgbClr val="2F80FF">
              <a:alpha val="90000"/>
            </a:srgbClr>
          </a:solidFill>
          <a:ln w="12700">
            <a:solidFill>
              <a:srgbClr val="2F8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2148840"/>
            <a:ext cx="1005840" cy="777240"/>
          </a:xfrm>
          <a:prstGeom prst="chevron">
            <a:avLst/>
          </a:prstGeom>
          <a:solidFill>
            <a:srgbClr val="38E77B">
              <a:alpha val="90000"/>
            </a:srgbClr>
          </a:solidFill>
          <a:ln w="12700">
            <a:solidFill>
              <a:srgbClr val="38E7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0" y="2148840"/>
            <a:ext cx="1005840" cy="777240"/>
          </a:xfrm>
          <a:prstGeom prst="chevron">
            <a:avLst/>
          </a:prstGeom>
          <a:solidFill>
            <a:srgbClr val="B78CFF">
              <a:alpha val="90000"/>
            </a:srgbClr>
          </a:solidFill>
          <a:ln w="12700">
            <a:solidFill>
              <a:srgbClr val="B7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9984" y="32461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7FAFF"/>
                </a:solidFill>
              </a:rPr>
              <a:t>Prototype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7FAFF"/>
                </a:solidFill>
              </a:rPr>
              <a:t>→ Demo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7FAFF"/>
                </a:solidFill>
              </a:rPr>
              <a:t>→ Product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583680" y="475488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B8C6D9"/>
                </a:solidFill>
              </a:rPr>
              <a:t>The current system is a strong technical reference. The next step is adding a real web dashboard that reads relay/device status live.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AA2"/>
                </a:solidFill>
              </a:rPr>
              <a:t>SECURE COMMUNICATION FIRMWARE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11393424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AA2"/>
                </a:solidFill>
              </a:rPr>
              <a:t>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AFF"/>
                </a:solidFill>
              </a:rPr>
              <a:t>Project summary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B8C6D9"/>
                </a:solidFill>
              </a:rPr>
              <a:t>A secure firmware communication system where devices authenticate each other, messages stay encrypted end-to-end, backend logs prove activity, and OTA update support prepares the project for real hardware testing.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4114800" cy="0"/>
          </a:xfrm>
          <a:prstGeom prst="line">
            <a:avLst/>
          </a:prstGeom>
          <a:noFill/>
          <a:ln w="27940">
            <a:solidFill>
              <a:srgbClr val="3A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6118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8E77B"/>
                </a:solidFill>
              </a:rPr>
              <a:t>Best demo order: Dashboard → Chat → Backend relay logs → Device CLI → OTA logs.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0" y="3310128"/>
            <a:ext cx="841248" cy="0"/>
          </a:xfrm>
          <a:prstGeom prst="line">
            <a:avLst/>
          </a:prstGeom>
          <a:noFill/>
          <a:ln w="20320">
            <a:solidFill>
              <a:srgbClr val="24405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052560" y="3310128"/>
            <a:ext cx="841248" cy="0"/>
          </a:xfrm>
          <a:prstGeom prst="line">
            <a:avLst/>
          </a:prstGeom>
          <a:noFill/>
          <a:ln w="20320">
            <a:solidFill>
              <a:srgbClr val="24405E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629400" y="2788920"/>
            <a:ext cx="822960" cy="1024128"/>
          </a:xfrm>
          <a:prstGeom prst="rect">
            <a:avLst/>
          </a:prstGeom>
          <a:solidFill>
            <a:srgbClr val="0F2032">
              <a:alpha val="95000"/>
            </a:srgbClr>
          </a:solidFill>
          <a:ln w="13970">
            <a:solidFill>
              <a:srgbClr val="2F80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Trust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identity + certs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66760" y="2788920"/>
            <a:ext cx="822960" cy="1024128"/>
          </a:xfrm>
          <a:prstGeom prst="rect">
            <a:avLst/>
          </a:prstGeom>
          <a:solidFill>
            <a:srgbClr val="0F2032">
              <a:alpha val="95000"/>
            </a:srgbClr>
          </a:solidFill>
          <a:ln w="13970">
            <a:solidFill>
              <a:srgbClr val="38E77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Encrypt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private payloads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921240" y="2788920"/>
            <a:ext cx="822960" cy="1024128"/>
          </a:xfrm>
          <a:prstGeom prst="rect">
            <a:avLst/>
          </a:prstGeom>
          <a:solidFill>
            <a:srgbClr val="0F2032">
              <a:alpha val="95000"/>
            </a:srgbClr>
          </a:solidFill>
          <a:ln w="13970">
            <a:solidFill>
              <a:srgbClr val="B78C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Deliver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7FAFF"/>
                </a:solidFill>
              </a:rPr>
              <a:t>verified result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12280" y="4434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AFF"/>
                </a:solidFill>
              </a:rPr>
              <a:t>Ready for presentation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Ritik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Communication Firmware</dc:title>
  <dc:subject>Secure Communication Firmware Project</dc:subject>
  <dc:creator>OpenAI</dc:creator>
  <cp:lastModifiedBy>OpenAI</cp:lastModifiedBy>
  <cp:revision>1</cp:revision>
  <dcterms:created xsi:type="dcterms:W3CDTF">2026-07-17T15:59:50Z</dcterms:created>
  <dcterms:modified xsi:type="dcterms:W3CDTF">2026-07-17T15:59:50Z</dcterms:modified>
</cp:coreProperties>
</file>